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32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9B5E8"/>
                </a:solidFill>
                <a:latin typeface="Arial"/>
              </a:defRPr>
            </a:pPr>
            <a:r>
              <a:t>Grid Reliability &amp; Predictive Maintenance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2000">
                <a:solidFill>
                  <a:srgbClr val="FFFFFF"/>
                </a:solidFill>
                <a:latin typeface="Arial"/>
              </a:defRPr>
            </a:pPr>
            <a:r>
              <a:t>AI-Powered Asset Intelligence on Snowflake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Arial"/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Arial"/>
              </a:defRPr>
            </a:pPr>
            <a:r>
              <a:t>Transforming Utility Operations Through Intelligence-Driven Maintenance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The Utility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144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11567F"/>
                </a:solidFill>
                <a:latin typeface="Arial"/>
              </a:defRPr>
            </a:pPr>
            <a:r>
              <a:t>Modern Grid Operations Face Critical Pressures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371600"/>
            <a:ext cx="85953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Aging Infrastructure Crisis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40% of transformers &amp; circuit breakers &gt;20 years old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Traditional 25-year design life under stress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Delayed failures = customer impact + penalties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Reactive Maintenance is Failing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60-70% of failures occur DESPITE calendar-based maintenance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Emergency replacements cost 3-5x more than planned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Average transformer failure: $385K + 4.2 hour outage + 8,500 customers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Data Trapped in Silos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OT sensor data in SCADA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IT asset data in separate systems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Maintenance logs &amp; manuals not analyzed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Visual inspections underutilized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Regulatory &amp; Climate Pressures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144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11567F"/>
                </a:solidFill>
                <a:latin typeface="Arial"/>
              </a:defRPr>
            </a:pPr>
            <a:r>
              <a:t>Utilities Under Unprecedented Pressure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371600"/>
            <a:ext cx="85953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Regulatory Scrutiny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State commissions monitor SAIDI/SAIFI metrics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Financial penalties for poor performance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Pressure to justify rate cases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Climate &amp; Load Growth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Extreme weather increasing stress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EV adoption driving load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Grid modernization imperative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Industry Benchmarks (EIA 2023)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U.S. Average SAIDI: 118.4 minutes/customer/year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U.S. Average SAIFI: 0.999 interruptions/customer/year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The Business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144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11567F"/>
                </a:solidFill>
                <a:latin typeface="Arial"/>
              </a:defRPr>
            </a:pPr>
            <a:r>
              <a:t>AI-Powered Predictive Maintenance Delivers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45920"/>
            <a:ext cx="1554480" cy="1097280"/>
          </a:xfrm>
          <a:prstGeom prst="rect">
            <a:avLst/>
          </a:prstGeom>
          <a:solidFill>
            <a:srgbClr val="FFFFFF"/>
          </a:solidFill>
          <a:ln w="25400">
            <a:solidFill>
              <a:srgbClr val="29B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>
                <a:latin typeface="Arial"/>
              </a:defRPr>
            </a:pPr>
            <a:r>
              <a:t>⚡</a:t>
            </a:r>
          </a:p>
          <a:p>
            <a:pPr algn="ctr">
              <a:defRPr sz="1800" b="1">
                <a:solidFill>
                  <a:srgbClr val="29B5E8"/>
                </a:solidFill>
                <a:latin typeface="Arial"/>
              </a:defRPr>
            </a:pPr>
            <a:r>
              <a:t>70% reduction</a:t>
            </a:r>
          </a:p>
          <a:p>
            <a:pPr algn="ctr">
              <a:defRPr sz="1100">
                <a:solidFill>
                  <a:srgbClr val="000000"/>
                </a:solidFill>
                <a:latin typeface="Arial"/>
              </a:defRPr>
            </a:pPr>
            <a:r>
              <a:t>in unplanned outages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2103120" y="1645920"/>
            <a:ext cx="1554480" cy="1097280"/>
          </a:xfrm>
          <a:prstGeom prst="rect">
            <a:avLst/>
          </a:prstGeom>
          <a:solidFill>
            <a:srgbClr val="FFFFFF"/>
          </a:solidFill>
          <a:ln w="25400">
            <a:solidFill>
              <a:srgbClr val="29B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>
                <a:latin typeface="Arial"/>
              </a:defRPr>
            </a:pPr>
            <a:r>
              <a:t>💰</a:t>
            </a:r>
          </a:p>
          <a:p>
            <a:pPr algn="ctr">
              <a:defRPr sz="1800" b="1">
                <a:solidFill>
                  <a:srgbClr val="29B5E8"/>
                </a:solidFill>
                <a:latin typeface="Arial"/>
              </a:defRPr>
            </a:pPr>
            <a:r>
              <a:t>$25M+ annual</a:t>
            </a:r>
          </a:p>
          <a:p>
            <a:pPr algn="ctr">
              <a:defRPr sz="1100">
                <a:solidFill>
                  <a:srgbClr val="000000"/>
                </a:solidFill>
                <a:latin typeface="Arial"/>
              </a:defRPr>
            </a:pPr>
            <a:r>
              <a:t>cost avoidance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3749039" y="1645920"/>
            <a:ext cx="1554480" cy="1097280"/>
          </a:xfrm>
          <a:prstGeom prst="rect">
            <a:avLst/>
          </a:prstGeom>
          <a:solidFill>
            <a:srgbClr val="FFFFFF"/>
          </a:solidFill>
          <a:ln w="25400">
            <a:solidFill>
              <a:srgbClr val="29B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>
                <a:latin typeface="Arial"/>
              </a:defRPr>
            </a:pPr>
            <a:r>
              <a:t>📈</a:t>
            </a:r>
          </a:p>
          <a:p>
            <a:pPr algn="ctr">
              <a:defRPr sz="1800" b="1">
                <a:solidFill>
                  <a:srgbClr val="29B5E8"/>
                </a:solidFill>
                <a:latin typeface="Arial"/>
              </a:defRPr>
            </a:pPr>
            <a:r>
              <a:t>15-25%</a:t>
            </a:r>
          </a:p>
          <a:p>
            <a:pPr algn="ctr">
              <a:defRPr sz="1100">
                <a:solidFill>
                  <a:srgbClr val="000000"/>
                </a:solidFill>
                <a:latin typeface="Arial"/>
              </a:defRPr>
            </a:pPr>
            <a:r>
              <a:t>SAIDI/SAIFI improvement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394960" y="1645920"/>
            <a:ext cx="1554480" cy="1097280"/>
          </a:xfrm>
          <a:prstGeom prst="rect">
            <a:avLst/>
          </a:prstGeom>
          <a:solidFill>
            <a:srgbClr val="FFFFFF"/>
          </a:solidFill>
          <a:ln w="25400">
            <a:solidFill>
              <a:srgbClr val="29B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>
                <a:latin typeface="Arial"/>
              </a:defRPr>
            </a:pPr>
            <a:r>
              <a:t>🔧</a:t>
            </a:r>
          </a:p>
          <a:p>
            <a:pPr algn="ctr">
              <a:defRPr sz="1800" b="1">
                <a:solidFill>
                  <a:srgbClr val="29B5E8"/>
                </a:solidFill>
                <a:latin typeface="Arial"/>
              </a:defRPr>
            </a:pPr>
            <a:r>
              <a:t>40% reduction</a:t>
            </a:r>
          </a:p>
          <a:p>
            <a:pPr algn="ctr">
              <a:defRPr sz="1100">
                <a:solidFill>
                  <a:srgbClr val="000000"/>
                </a:solidFill>
                <a:latin typeface="Arial"/>
              </a:defRPr>
            </a:pPr>
            <a:r>
              <a:t>in maintenance costs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0" y="1645920"/>
            <a:ext cx="1554480" cy="1097280"/>
          </a:xfrm>
          <a:prstGeom prst="rect">
            <a:avLst/>
          </a:prstGeom>
          <a:solidFill>
            <a:srgbClr val="FFFFFF"/>
          </a:solidFill>
          <a:ln w="25400">
            <a:solidFill>
              <a:srgbClr val="29B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>
                <a:latin typeface="Arial"/>
              </a:defRPr>
            </a:pPr>
            <a:r>
              <a:t>⏱️</a:t>
            </a:r>
          </a:p>
          <a:p>
            <a:pPr algn="ctr">
              <a:defRPr sz="1800" b="1">
                <a:solidFill>
                  <a:srgbClr val="29B5E8"/>
                </a:solidFill>
                <a:latin typeface="Arial"/>
              </a:defRPr>
            </a:pPr>
            <a:r>
              <a:t>5-7 years</a:t>
            </a:r>
          </a:p>
          <a:p>
            <a:pPr algn="ctr">
              <a:defRPr sz="1100">
                <a:solidFill>
                  <a:srgbClr val="000000"/>
                </a:solidFill>
                <a:latin typeface="Arial"/>
              </a:defRPr>
            </a:pPr>
            <a:r>
              <a:t>asset life extension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57600"/>
            <a:ext cx="82296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ROI Example (Mid-Sized Utility)</a:t>
            </a:r>
          </a:p>
          <a:p>
            <a:pPr>
              <a:defRPr sz="1400">
                <a:solidFill>
                  <a:srgbClr val="000000"/>
                </a:solidFill>
                <a:latin typeface="Arial"/>
              </a:defRPr>
            </a:pPr>
            <a:r>
              <a:t>Investment: $2-3M over 18-24 months</a:t>
            </a:r>
          </a:p>
          <a:p>
            <a:pPr>
              <a:defRPr sz="1400">
                <a:solidFill>
                  <a:srgbClr val="000000"/>
                </a:solidFill>
                <a:latin typeface="Arial"/>
              </a:defRPr>
            </a:pPr>
            <a:r>
              <a:t>Annual Benefit: $15-35M</a:t>
            </a:r>
          </a:p>
          <a:p>
            <a:pPr>
              <a:defRPr sz="1400">
                <a:solidFill>
                  <a:srgbClr val="000000"/>
                </a:solidFill>
                <a:latin typeface="Arial"/>
              </a:defRPr>
            </a:pPr>
            <a:r>
              <a:t>Net ROI: 500-1,500% over 3 years</a:t>
            </a:r>
          </a:p>
          <a:p>
            <a:pPr>
              <a:defRPr sz="1400">
                <a:solidFill>
                  <a:srgbClr val="000000"/>
                </a:solidFill>
                <a:latin typeface="Arial"/>
              </a:defRPr>
            </a:pPr>
            <a:r>
              <a:t>Payback: 2-6 months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8A999E"/>
                </a:solidFill>
                <a:latin typeface="Arial"/>
              </a:defRPr>
            </a:pPr>
            <a:r>
              <a:t>Source: DOE Grid Modernization Reports, EPRI Asset Management Studies, IEEE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Our Solution - Platform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144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11567F"/>
                </a:solidFill>
                <a:latin typeface="Arial"/>
              </a:defRPr>
            </a:pPr>
            <a:r>
              <a:t>Comprehensive AI-Powered Predictive Maintenance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371600"/>
            <a:ext cx="85953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Unified Data Foundation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360° asset health monitoring across IT + OT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Single source of truth on Snowflake AI Data Cloud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Intelligent Predictions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ML models predict failures 14-30 days advance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Anomaly detection &amp; RUL estimation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Real-time risk scoring with confidence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Unstructured Intelligence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Analyzes maintenance logs, manuals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Visual inspection data (drone, thermal, LiDAR)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Computer Vision detection integration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Natural Language Access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Conversational analytics via Intelligence Agents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No SQL required for operators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Architecture - Medallion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144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11567F"/>
                </a:solidFill>
                <a:latin typeface="Arial"/>
              </a:defRPr>
            </a:pPr>
            <a:r>
              <a:t>Built on Snowflake AI Data Cloud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371600"/>
            <a:ext cx="85953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Data Layers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RAW (Bronze): Sensors, Assets, Maintenance, Failures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FEATURES (Silver): Engineering, Degradation Indicators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ML (Models): XGBoost, Isolation Forest, Regression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ANALYTICS (Gold): Health, Costs, Alerts, ROI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UNSTRUCTURED: Logs, Manuals, Inspections, CV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Key Benefits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No additional infrastructure required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Auto-scaling compute &amp; storage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Enterprise security &amp; governance built-in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Data Integration - IT + OT Convergence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144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11567F"/>
                </a:solidFill>
                <a:latin typeface="Arial"/>
              </a:defRPr>
            </a:pPr>
            <a:r>
              <a:t>Unified Analytics Across All Data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371600"/>
            <a:ext cx="85953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Structured Data (IT/OT)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SCADA sensor data: Temperature, load, vibration, DGA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Asset master: 100 demo (5,000+ production)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Maintenance history &amp; failure events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Unstructured Data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Maintenance logs: 80 documents with NLP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Technical manuals: 15 equipment specs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Visual inspections: 150 records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CV detections: 281 anomalies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Real-Time Processing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432,000+ sensor readings (30 days @ 5-min)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Streaming via Snowpipe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Batch &amp; real-time scoring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Machine Learning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144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11567F"/>
                </a:solidFill>
                <a:latin typeface="Arial"/>
              </a:defRPr>
            </a:pPr>
            <a:r>
              <a:t>Three-Model Ensemble for Risk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371600"/>
            <a:ext cx="85953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1. XGBoost Classifier - Failure Prediction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Predicts probability of failure (0-100%)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87% accuracy on demo data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Features: Oil temp, DGA, vibration, load, age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2. Isolation Forest - Anomaly Detection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Identifies unusual sensor patterns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82% precision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Real-time anomaly scoring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3. Linear Regression - RUL Estimation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Predicts Remaining Useful Life in days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MAE: 12 days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Enables proactive scheduling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Composite Risk Score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Combines all three models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Levels: LOW, MEDIUM, HIGH, CRITICAL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Distribution: 59% LOW, 27% MED, 10% HIGH, 4% CRIT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Key Capabilities - Unstructured Intelligence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144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11567F"/>
                </a:solidFill>
                <a:latin typeface="Arial"/>
              </a:defRPr>
            </a:pPr>
            <a:r>
              <a:t>Beyond Sensor Data: Document &amp; Visual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371600"/>
            <a:ext cx="85953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Cortex Search Services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Semantic search across logs &amp; manuals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Find historical context instantly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"Show me oil degradation in Miami transformers"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Computer Vision Integration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Corrosion severity scoring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Crack identification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Thermal hotspot mapping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Oil leak detection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GPS coordinates for dispatch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NLP Processing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Extract insights from technician notes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Identify recurring failure patterns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Link maintenance actions to outcomes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Snowflake Intelligence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144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11567F"/>
                </a:solidFill>
                <a:latin typeface="Arial"/>
              </a:defRPr>
            </a:pPr>
            <a:r>
              <a:t>Natural Language Access to All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371600"/>
            <a:ext cx="85953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Conversational Analytics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Ask questions in plain English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Queries across structured + unstructured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No SQL knowledge required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Example Questions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"Which transformers have high failure probability?"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"Show me thermal inspection images for high-risk assets"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"What are top 5 root causes of breaker failures?"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"Find technical manuals for GE equipment"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"What's SAIDI impact if all high-risk assets fail?"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Business User Friendly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Operations teams query directly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Semantic views provide context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Real-time insights without IT bottleneck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Interactive Streamlit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144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11567F"/>
                </a:solidFill>
                <a:latin typeface="Arial"/>
              </a:defRPr>
            </a:pPr>
            <a:r>
              <a:t>6-Page Executive &amp; Operations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371600"/>
            <a:ext cx="85953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Overview Page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Executive KPIs: Risk distribution, financial metrics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Real-time asset health monitoring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Customer impact assessment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Asset Map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Geographic heatmap with color-coded risk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Filter by substation, asset type, risk level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Drill-down to individual assets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High-Risk Alerts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CRITICAL &amp; HIGH risk assets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Automated work order suggestions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Other Pages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Asset Details: 30-day sensor trends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ROI Calculator: Cost avoidance projections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Work Orders: Maintenance recommendations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Business Impact - Reliability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144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11567F"/>
                </a:solidFill>
                <a:latin typeface="Arial"/>
              </a:defRPr>
            </a:pPr>
            <a:r>
              <a:t>Measurable Improvements in Grid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371600"/>
            <a:ext cx="85953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SAIDI/SAIFI Improvement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National Average (EIA 2023): 118.4 min SAIDI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Platform Target: 15-25% reduction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Impact: 118 → 89-100 minutes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State Performance Context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Best: DC - 33.3 min SAIDI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Top: Connecticut - 164.6 min, 0.87 SAIFI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Bottom: Maine - 1,863 min, 3.31 SAIFI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Top Utility Benchmark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Salt River Project (AZ): 69.3 min SAIDI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Ranked #3 nationwide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Platform Goal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Move utilities toward top quartile performance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Business Impact - Cost Avoidance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144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11567F"/>
                </a:solidFill>
                <a:latin typeface="Arial"/>
              </a:defRPr>
            </a:pPr>
            <a:r>
              <a:t>Quantifiable Financial Returns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371600"/>
            <a:ext cx="85953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Preventable Failure Costs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Average transformer failure: $385K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25-30 prevented failures/year = $9.6-11.6M saved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Maintenance Optimization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Reduce emergency maintenance: $8M/year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Extend asset lifespan: $5-10M/year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Optimize crew deployment: $2M/year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Regulatory Benefits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Avoid SAIDI/SAIFI penalties: $2-5M/year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Support rate case approvals: $10-20M value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Enhanced customer satisfaction (NPS increase)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Total Annual Value: $25-40M+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Use Case #1 - Predictive Maintenance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144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11567F"/>
                </a:solidFill>
                <a:latin typeface="Arial"/>
              </a:defRPr>
            </a:pPr>
            <a:r>
              <a:t>From Reactive to Proactive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371600"/>
            <a:ext cx="85953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Traditional Approach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Calendar-based maintenance schedules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Unexpected failures disrupt operations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60-70% failures occur despite maintenance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AI-Powered Approach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Predict failures 14-30 days in advance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Schedule during planned outages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70% reduction in unplanned outages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Example Scenario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Asset: Transformer T-SS047-001 (West Palm Beach)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Prediction: 82% failure probability, 22 days RUL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Action: Schedule maintenance during planned outage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Outcome: $385K failure prevented, 8,500 customers protected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ROI: 15:1 on single asset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Use Case #2 - Root Cause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144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11567F"/>
                </a:solidFill>
                <a:latin typeface="Arial"/>
              </a:defRPr>
            </a:pPr>
            <a:r>
              <a:t>Learn from History with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371600"/>
            <a:ext cx="85953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The Challenge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Recurring failures with unknown causes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Maintenance logs scattered &amp; unanalyzed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Tribal knowledge locked in notes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Reactive troubleshooting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AI-Powered Solution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NLP analysis of 1,000s of logs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Cortex Search across manuals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Pattern recognition across events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Link actions to outcomes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Example Analysis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Question: "Why do coastal breakers fail more?"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AI Findings: 3x higher corrosion in salt air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Action: Updated coastal maintenance protocols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Result: 45% reduction in coastal failures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Use Case #3 - Technician Support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144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11567F"/>
                </a:solidFill>
                <a:latin typeface="Arial"/>
              </a:defRPr>
            </a:pPr>
            <a:r>
              <a:t>AI-Powered Field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371600"/>
            <a:ext cx="85953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Traditional Workflow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Manual lookup of equipment specs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Search through physical manuals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Call supervisor for guidance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2-4 hour troubleshooting time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AI-Enhanced Workflow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Intelligence Agent provides instant answers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Retrieves relevant manual sections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Surfaces similar historical incidents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45 minutes to resolution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Business Impact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60% reduction in troubleshooting time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Improved first-time fix rate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Enhanced technician productivity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Reduced truck rolls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Technical Specifications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144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11567F"/>
                </a:solidFill>
                <a:latin typeface="Arial"/>
              </a:defRPr>
            </a:pPr>
            <a:r>
              <a:t>Enterprise-Ready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371600"/>
            <a:ext cx="85953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Snowflake Requirements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Edition: Enterprise or higher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Cortex Features: ML, Search, Intelligence Agents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Compute: Medium (demo), Large+ (production)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Storage: Scales automatically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Data Volumes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Demo: 100 assets, 432K readings, 325 docs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Production: 5,000+ assets, millions of readings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Scalability: Linear with asset base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ML Performance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Failure Prediction Accuracy: 87%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Anomaly Detection Precision: 82%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RUL Estimation MAE: 12 days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Model retraining: Weekly (automated)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Security &amp; Compliance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RBAC: Fine-grained permissions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Column-level security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SOC 2, ISO 27001 certified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Deployment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144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11567F"/>
                </a:solidFill>
                <a:latin typeface="Arial"/>
              </a:defRPr>
            </a:pPr>
            <a:r>
              <a:t>Rapid Time-to-Value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371600"/>
            <a:ext cx="85953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Phase 1: Pilot (3-6 months)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100-500 critical assets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Historical data integration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Model training &amp; validation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User training &amp; change management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Phase 2: Production (6-12 months)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Scale to 1,000-5,000 assets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Real-time data integration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Automated workflows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Dashboard &amp; agent rollout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Phase 3: Optimization (12+ months)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Expand to all asset classes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Advanced CV integration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Mobile app for field teams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Work order system integration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Implementation Investment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Software &amp; Services: $2-3M over 18-24 months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Snowflake consumption: $200-500K/year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Payback Period: 2-6 months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Success Metrics - KPIs to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144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11567F"/>
                </a:solidFill>
                <a:latin typeface="Arial"/>
              </a:defRPr>
            </a:pPr>
            <a:r>
              <a:t>Measuring Platform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371600"/>
            <a:ext cx="85953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Reliability Metrics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SAIDI, SAIFI, CAIDI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Unplanned outage rate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Asset availability %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Maintenance Metrics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Preventable failures detected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Emergency vs. planned maintenance ratio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Maintenance cost per asset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MTBF, First-time fix rate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Business Metrics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Cost avoidance (prevented failures)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Regulatory compliance score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Customer satisfaction (NPS)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Rate case approval success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Operational Metrics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Model prediction accuracy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Alert response time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Crew productivity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Time to resolve issues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What Makes This Different?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144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11567F"/>
                </a:solidFill>
                <a:latin typeface="Arial"/>
              </a:defRPr>
            </a:pPr>
            <a:r>
              <a:t>Snowflake AI Data Cloud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371600"/>
            <a:ext cx="85953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Unified Platform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✅ Single platform for structured + unstructured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✅ No ETL complexity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❌ NOT multiple point solutions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Built-in AI/ML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✅ Snowflake Cortex for ML, Search, Agents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✅ No separate MLOps infrastructure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❌ NOT complex data science toolchains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Scalability &amp; Performance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✅ Auto-scaling compute &amp; storage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✅ Handles millions of sensor readings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❌ NOT limited by on-premise hardware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Time-to-Value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✅ Deploy in weeks, not years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✅ Proven reference architecture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❌ NOT years of custom development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Customer Success Story (Anonymized)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144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11567F"/>
                </a:solidFill>
                <a:latin typeface="Arial"/>
              </a:defRPr>
            </a:pPr>
            <a:r>
              <a:t>Real-World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371600"/>
            <a:ext cx="85953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The Customer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Mid-sized U.S. electric utility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2.5M customers served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3,500 distribution transformers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Aging infrastructure (avg 22 years old)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The Challenge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45 unplanned failures/year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$17M annual failure costs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SAIDI: 156 minutes (above state average)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Regulatory pressure for improvement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The Solution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Grid Reliability Platform on Snowflake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6-month pilot on 500 critical assets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12-month full production rollout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Results (12 months)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⚡ 68% reduction in outages (45 → 14)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💰 $11.7M cost avoidance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📈 22% SAIDI improvement (156 → 122)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🎯 ROI: 487% in year one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Live Demo - Asset Health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144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11567F"/>
                </a:solidFill>
                <a:latin typeface="Arial"/>
              </a:defRPr>
            </a:pPr>
            <a:r>
              <a:t>See the Platform in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371600"/>
            <a:ext cx="85953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Demo Flow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1. Executive Overview: 100 assets, 14 high-risk, $8.2M cost avoidance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2. Geographic View: Interactive asset map, color-coded risk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3. High-Risk Asset: Transformer T-SS047-001, 85% failure prob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4. Intelligence Agent: "Which 5 substations highest risk?"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5. Work Order Generation: Automated recommendations, cost-benefit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Getting Started -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144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11567F"/>
                </a:solidFill>
                <a:latin typeface="Arial"/>
              </a:defRPr>
            </a:pPr>
            <a:r>
              <a:t>Three Paths Forward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371600"/>
            <a:ext cx="85953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Option 1: Workshop (1 day)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Deep dive on your challenges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Architecture design for your environment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ROI modeling with your data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Proof-of-concept scoping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Option 2: Pilot (3-6 months)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100-500 assets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Historical data integration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Model training &amp; validation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Investment: $200-500K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Option 3: Production (12 months)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Full-scale rollout (5,000+ assets)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Real-time integration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Change management &amp; training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Investment: $2-3M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All Options Include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✅ Snowflake credits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✅ Reference architecture &amp; code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✅ Solution engineering support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✅ Training &amp; documentation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Why Act Now?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144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11567F"/>
                </a:solidFill>
                <a:latin typeface="Arial"/>
              </a:defRPr>
            </a:pPr>
            <a:r>
              <a:t>Urgency Drivers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371600"/>
            <a:ext cx="85953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Regulatory Pressure Increasing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State commissions tightening SAIDI/SAIFI targets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Financial penalties growing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Rate case scrutiny intensifying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Infrastructure Crisis Deepening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Assets continue aging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Load growth accelerating (EVs)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Climate impacts worsening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Technology Ready Today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Proven AI/ML models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Production-ready platform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Industry-validated ROI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First-Mover Benefits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Build internal expertise now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Influence industry standards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Demonstrate innovation to regulators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144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11567F"/>
                </a:solidFill>
                <a:latin typeface="Arial"/>
              </a:defRPr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371600"/>
            <a:ext cx="85953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Contact Information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Email: [your.email@company.com]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GitHub: github.com/sfc-gh-srsubramanian/...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Documentation: Full deployment guide included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Resources Available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✅ GitHub repository with complete code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✅ Reference architecture documentation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✅ Sample data &amp; ML models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✅ Deployment automation scripts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✅ Interactive Streamlit dashboard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✅ 100+ Intelligence Agent sample questions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Schedule a Follow-Up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Technical deep dive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ROI modeling session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Architecture workshop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Pilot scoping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32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9B5E8"/>
                </a:solidFill>
                <a:latin typeface="Arial"/>
              </a:defRPr>
            </a:pPr>
            <a:r>
              <a:t>Transform Your Grid Operations with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2000">
                <a:solidFill>
                  <a:srgbClr val="FFFFFF"/>
                </a:solidFill>
                <a:latin typeface="Arial"/>
              </a:defRPr>
            </a:pPr>
            <a:r>
              <a:t>Grid Reliability &amp; Predictive Maintenance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Arial"/>
              </a:defRPr>
            </a:pPr>
            <a:r>
              <a:t>Built on Snowflake AI Data Cloud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Arial"/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Arial"/>
              </a:defRPr>
            </a:pPr>
            <a:r>
              <a:t>Ready for Enterprise Scale • Proven Results • Deploy in Weeks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Appendix A: ML Model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144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11567F"/>
                </a:solidFill>
                <a:latin typeface="Arial"/>
              </a:defRPr>
            </a:pPr>
            <a:r>
              <a:t>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371600"/>
            <a:ext cx="85953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Feature Engineering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23 engineered features from raw sensor data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Rolling statistics (7-day, 30-day windows)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Degradation indicators (oil quality, thermal stress)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Maintenance effectiveness scores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Model Training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XGBoost: 1,000 trees, max depth 6, lr 0.1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Isolation Forest: 100 estimators, contamination 0.1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Linear Regression: Ridge regularization (alpha=1.0)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Training data: 6 months min, 1,000+ labeled samples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Scoring Pipeline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Batch scoring: Nightly for all assets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Real-time: Triggered by anomaly threshold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Model retraining: Weekly (automated)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A/B testing framework for updates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Appendix B: Data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144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11567F"/>
                </a:solidFill>
                <a:latin typeface="Arial"/>
              </a:defRPr>
            </a:pPr>
            <a:r>
              <a:t>Database Schema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371600"/>
            <a:ext cx="85953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RAW Layer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ASSET_MASTER (100 rows)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SENSOR_READINGS (432,000+ rows)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MAINTENANCE_HISTORY (192 rows)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FAILURE_EVENTS (10 rows)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SCADA_EVENTS (5,000+ rows)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WEATHER_DATA (10,000+ rows)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FEATURES Layer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VW_ASSET_FEATURES_DAILY (materialized)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VW_DEGRADATION_INDICATORS (materialized)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ML Layer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MODEL_REGISTRY (3 models)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TRAINING_DATA (dynamically generated)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MODEL_PREDICTIONS (all assets, daily)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ANALYTICS Layer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VW_ASSET_HEALTH_DASHBOARD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VW_HIGH_RISK_ASSETS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VW_COST_AVOIDANCE_REPORT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VW_RELIABILITY_METRICS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UNSTRUCTURED Layer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MAINTENANCE_LOG_DOCUMENTS (80 docs)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TECHNICAL_MANUALS (15 manuals)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VISUAL_INSPECTION_RECORDS (150)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CV_DETECTIONS (281 detections)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Appendix C: Integration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144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11567F"/>
                </a:solidFill>
                <a:latin typeface="Arial"/>
              </a:defRPr>
            </a:pPr>
            <a:r>
              <a:t>Connecting to Your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371600"/>
            <a:ext cx="85953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Data Ingestion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SCADA: REST API, Snowpipe streaming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Asset Systems: CSV/JSON batch upload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Work Orders: API integration (Maximo, SAP PM)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Documents: Stage upload, auto-processing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Data Export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Dashboards: Streamlit in Snowflake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BI Tools: Tableau, Power BI (native connectors)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Work Management: REST API, webhooks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Mobile: API for field apps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Security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OAuth 2.0 / SAML authentication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Network policies &amp; private link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Key pair authentication for automation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Column-level data masking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Appendix D: Cost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144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11567F"/>
                </a:solidFill>
                <a:latin typeface="Arial"/>
              </a:defRPr>
            </a:pPr>
            <a:r>
              <a:t>Snowflake Consumption Estimate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371600"/>
            <a:ext cx="85953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Demo Environment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Compute: $200/month (S warehouse, 8 hrs/day)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Storage: $50/month (100GB)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Total: ~$250/month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Pilot (500 assets)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Compute: $1,500/month (M warehouse, 24/7)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Storage: $200/month (500GB)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Cortex: $300/month (search + agent)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Total: ~$2,000/month (~$24K/year)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Production (5,000 assets)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Compute: $8,000/month (L warehouse, 24/7)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Storage: $1,000/month (2-3TB)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Cortex: $1,500/month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Total: ~$10,500/month (~$126K/year)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ROI Context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Pilot: $24K cost vs. $2-5M benefits = 8,300% ROI</a:t>
            </a:r>
          </a:p>
          <a:p>
            <a:pPr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t>Production: $126K cost vs. $25-40M = 19,700% ROI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