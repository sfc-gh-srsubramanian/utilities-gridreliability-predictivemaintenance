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B5E8"/>
                </a:solidFill>
                <a:latin typeface="Arial"/>
              </a:defRPr>
            </a:pPr>
            <a:r>
              <a:t>Grid Reliability &amp;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AI-Powered Asset Intelligence on Snowflake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Transforming Utility Operations Through Intelligence-Driven Maintenance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Utility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1567F"/>
                </a:solidFill>
                <a:latin typeface="Arial"/>
              </a:defRPr>
            </a:pPr>
            <a:r>
              <a:t>Modern Grid Operations Face Critical Pressures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Aging Infrastructure Crisis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40% of transformers &amp; circuit breakers &gt;20 years old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Traditional 25-year design life under stress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Delayed failures = customer impact + penalties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Reactive Maintenance is Failing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60-70% of failures occur DESPITE calendar-based maintenance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Emergency replacements cost 3-5x more than planned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Average transformer failure: $385K + 4.2 hour outage + 8,500 customers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Data Trapped in Silos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OT sensor data in SCADA (Supervisory Control and Data Acquisition)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IT asset data in separate enterprise systems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Maintenance logs &amp; manuals not analyzed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Visual inspections (drone, thermal) underutilized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Regulatory &amp; Climate Pressures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1567F"/>
                </a:solidFill>
                <a:latin typeface="Arial"/>
              </a:defRPr>
            </a:pPr>
            <a:r>
              <a:t>Utilities Under Unprecedented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Regulatory Scrutiny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State commissions closely monitor SAIDI/SAIFI metrics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  → SAIDI: System Average Interruption Duration Index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  → SAIFI: System Average Interruption Frequency Index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Financial penalties for poor reliability performance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Pressure to justify rate cases with improvements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Climate &amp; Load Growth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Extreme weather increasing thermal stress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EV adoption driving unprecedented load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Aging infrastructure meets growing demand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Grid modernization imperative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Industry Benchmarks (EIA 2023)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U.S. Average SAIDI: 118.4 minutes/customer/year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U.S. Average SAIFI: 0.999 interruptions/customer/year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Business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1567F"/>
                </a:solidFill>
                <a:latin typeface="Arial"/>
              </a:defRPr>
            </a:pPr>
            <a:r>
              <a:t>AI-Powered Predictive Maintenance Delivers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554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latin typeface="Arial"/>
              </a:defRPr>
            </a:pPr>
            <a:r>
              <a:t>⚡</a:t>
            </a:r>
          </a:p>
          <a:p>
            <a:pPr algn="ctr">
              <a:defRPr sz="1800" b="1">
                <a:solidFill>
                  <a:srgbClr val="29B5E8"/>
                </a:solidFill>
                <a:latin typeface="Arial"/>
              </a:defRPr>
            </a:pPr>
            <a:r>
              <a:t>70% reduction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in unplanned outages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645920"/>
            <a:ext cx="1554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latin typeface="Arial"/>
              </a:defRPr>
            </a:pPr>
            <a:r>
              <a:t>💰</a:t>
            </a:r>
          </a:p>
          <a:p>
            <a:pPr algn="ctr">
              <a:defRPr sz="1800" b="1">
                <a:solidFill>
                  <a:srgbClr val="29B5E8"/>
                </a:solidFill>
                <a:latin typeface="Arial"/>
              </a:defRPr>
            </a:pPr>
            <a:r>
              <a:t>$25M+ annual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cost avoidance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645920"/>
            <a:ext cx="1554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latin typeface="Arial"/>
              </a:defRPr>
            </a:pPr>
            <a:r>
              <a:t>📈</a:t>
            </a:r>
          </a:p>
          <a:p>
            <a:pPr algn="ctr">
              <a:defRPr sz="1800" b="1">
                <a:solidFill>
                  <a:srgbClr val="29B5E8"/>
                </a:solidFill>
                <a:latin typeface="Arial"/>
              </a:defRPr>
            </a:pPr>
            <a:r>
              <a:t>15-25%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SAIDI/SAIFI improvement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645920"/>
            <a:ext cx="1554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latin typeface="Arial"/>
              </a:defRPr>
            </a:pPr>
            <a:r>
              <a:t>🔧</a:t>
            </a:r>
          </a:p>
          <a:p>
            <a:pPr algn="ctr">
              <a:defRPr sz="1800" b="1">
                <a:solidFill>
                  <a:srgbClr val="29B5E8"/>
                </a:solidFill>
                <a:latin typeface="Arial"/>
              </a:defRPr>
            </a:pPr>
            <a:r>
              <a:t>40% reduction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in maintenance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645920"/>
            <a:ext cx="1554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latin typeface="Arial"/>
              </a:defRPr>
            </a:pPr>
            <a:r>
              <a:t>⏱️</a:t>
            </a:r>
          </a:p>
          <a:p>
            <a:pPr algn="ctr">
              <a:defRPr sz="1800" b="1">
                <a:solidFill>
                  <a:srgbClr val="29B5E8"/>
                </a:solidFill>
                <a:latin typeface="Arial"/>
              </a:defRPr>
            </a:pPr>
            <a:r>
              <a:t>5-7 years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asset life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ROI Example (Mid-Sized Utility)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Investment: $2-3M over 18-24 months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Annual Benefit: $15-35M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Net ROI: 500-1,500% over 3 years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Payback: 2-6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A999E"/>
                </a:solidFill>
                <a:latin typeface="Arial"/>
              </a:defRPr>
            </a:pPr>
            <a:r>
              <a:t>Source: DOE Grid Modernization Reports, EPRI Asset Management Studies, IEEE Power &amp; Energy Society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Our Solution -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1567F"/>
                </a:solidFill>
                <a:latin typeface="Arial"/>
              </a:defRPr>
            </a:pPr>
            <a:r>
              <a:t>Comprehensive AI-Powered 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Unified Data Foundation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360° asset health monitoring across IT + OT systems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Single source of truth on Snowflake AI Data Cloud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Intelligent Predictions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ML models predict failures 14-30 days in advance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Anomaly detection &amp; Remaining Useful Life (RUL) estimation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Real-time risk scoring with confidence levels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Unstructured Intelligence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Analyzes maintenance logs, technical manuals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Visual inspection data (drone, thermal, LiDAR)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Computer Vision detection integration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Natural Language Access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Conversational analytics via Snowflake Intelligence Agents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No SQL required for operators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